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演示数据</c:v>
                </c:pt>
              </c:strCache>
            </c:strRef>
          </c:tx>
          <c:spPr>
            <a:solidFill>
              <a:srgbClr val="3855D9"/>
            </a:solidFill>
          </c:spPr>
          <c:cat>
            <c:strRef>
              <c:f>Sheet1!$A$2:$A$5</c:f>
              <c:strCache>
                <c:ptCount val="4"/>
                <c:pt idx="0">
                  <c:v>访问</c:v>
                </c:pt>
                <c:pt idx="1">
                  <c:v>注册</c:v>
                </c:pt>
                <c:pt idx="2">
                  <c:v>激活</c:v>
                </c:pt>
                <c:pt idx="3">
                  <c:v>付费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60</c:v>
                </c:pt>
                <c:pt idx="2">
                  <c:v>35</c:v>
                </c:pt>
                <c:pt idx="3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700">
                <a:latin typeface="PingFang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PingFang S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原生可编辑封面。标题、报告期、汇报人依据用户材料填写。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图表和嵌入工作簿均可编辑。示例数字仅用于展示布局，正式交付必须替换并注明来源。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A9B8CC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3" name="s1-title"/>
          <p:cNvSpPr txBox="1"/>
          <p:nvPr/>
        </p:nvSpPr>
        <p:spPr>
          <a:xfrm>
            <a:off x="731520" y="1554480"/>
            <a:ext cx="10698480" cy="1463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4200" b="1">
                <a:solidFill>
                  <a:srgbClr val="FFFFFF"/>
                </a:solidFill>
                <a:latin typeface="PingFang SC"/>
                <a:ea typeface="PingFang SC"/>
              </a:rPr>
              <a:t>{{cover_title}}</a:t>
            </a:r>
          </a:p>
        </p:txBody>
      </p:sp>
      <p:sp>
        <p:nvSpPr>
          <p:cNvPr id="4" name="s1-subtitle"/>
          <p:cNvSpPr txBox="1"/>
          <p:nvPr/>
        </p:nvSpPr>
        <p:spPr>
          <a:xfrm>
            <a:off x="731520" y="3246120"/>
            <a:ext cx="1051560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CED8E9"/>
                </a:solidFill>
                <a:latin typeface="PingFang SC"/>
                <a:ea typeface="PingFang SC"/>
              </a:rPr>
              <a:t>{{cover_subtitle}}</a:t>
            </a:r>
          </a:p>
        </p:txBody>
      </p:sp>
      <p:sp>
        <p:nvSpPr>
          <p:cNvPr id="5" name="cover-topic"/>
          <p:cNvSpPr txBox="1"/>
          <p:nvPr/>
        </p:nvSpPr>
        <p:spPr>
          <a:xfrm>
            <a:off x="731520" y="5074920"/>
            <a:ext cx="1005840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CED8E9"/>
                </a:solidFill>
                <a:latin typeface="PingFang SC"/>
                <a:ea typeface="PingFang SC"/>
              </a:rPr>
              <a:t>用户价值 · 核心指标 · 实验结论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3" name="s2-title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31B35"/>
                </a:solidFill>
                <a:latin typeface="PingFang SC"/>
                <a:ea typeface="PingFang SC"/>
              </a:rPr>
              <a:t>本次需要讨论的事项</a:t>
            </a:r>
          </a:p>
        </p:txBody>
      </p:sp>
      <p:sp>
        <p:nvSpPr>
          <p:cNvPr id="4" name="s2-heading-0"/>
          <p:cNvSpPr txBox="1"/>
          <p:nvPr/>
        </p:nvSpPr>
        <p:spPr>
          <a:xfrm>
            <a:off x="731520" y="1965960"/>
            <a:ext cx="2240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3855D9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5" name="s2-body-0"/>
          <p:cNvSpPr txBox="1"/>
          <p:nvPr/>
        </p:nvSpPr>
        <p:spPr>
          <a:xfrm>
            <a:off x="3200400" y="1965960"/>
            <a:ext cx="7955279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2334A"/>
                </a:solidFill>
                <a:latin typeface="PingFang SC"/>
                <a:ea typeface="PingFang SC"/>
              </a:rPr>
              <a:t>{{agenda_1}}</a:t>
            </a:r>
          </a:p>
        </p:txBody>
      </p:sp>
      <p:sp>
        <p:nvSpPr>
          <p:cNvPr id="6" name="s2-heading-1"/>
          <p:cNvSpPr txBox="1"/>
          <p:nvPr/>
        </p:nvSpPr>
        <p:spPr>
          <a:xfrm>
            <a:off x="731520" y="3136391"/>
            <a:ext cx="2240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3855D9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7" name="s2-body-1"/>
          <p:cNvSpPr txBox="1"/>
          <p:nvPr/>
        </p:nvSpPr>
        <p:spPr>
          <a:xfrm>
            <a:off x="3200400" y="3136391"/>
            <a:ext cx="7955279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2334A"/>
                </a:solidFill>
                <a:latin typeface="PingFang SC"/>
                <a:ea typeface="PingFang SC"/>
              </a:rPr>
              <a:t>{{agenda_2}}</a:t>
            </a:r>
          </a:p>
        </p:txBody>
      </p:sp>
      <p:sp>
        <p:nvSpPr>
          <p:cNvPr id="8" name="s2-heading-2"/>
          <p:cNvSpPr txBox="1"/>
          <p:nvPr/>
        </p:nvSpPr>
        <p:spPr>
          <a:xfrm>
            <a:off x="731520" y="4306824"/>
            <a:ext cx="2240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3855D9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9" name="s2-body-2"/>
          <p:cNvSpPr txBox="1"/>
          <p:nvPr/>
        </p:nvSpPr>
        <p:spPr>
          <a:xfrm>
            <a:off x="3200400" y="4306824"/>
            <a:ext cx="7955279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2334A"/>
                </a:solidFill>
                <a:latin typeface="PingFang SC"/>
                <a:ea typeface="PingFang SC"/>
              </a:rPr>
              <a:t>{{agenda_3}}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3" name="s3-title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31B35"/>
                </a:solidFill>
                <a:latin typeface="PingFang SC"/>
                <a:ea typeface="PingFang SC"/>
              </a:rPr>
              <a:t>{{s3_title}}</a:t>
            </a:r>
          </a:p>
        </p:txBody>
      </p:sp>
      <p:sp>
        <p:nvSpPr>
          <p:cNvPr id="4" name="s3-heading-0"/>
          <p:cNvSpPr txBox="1"/>
          <p:nvPr/>
        </p:nvSpPr>
        <p:spPr>
          <a:xfrm>
            <a:off x="731520" y="1965960"/>
            <a:ext cx="2240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3855D9"/>
                </a:solidFill>
                <a:latin typeface="PingFang SC"/>
                <a:ea typeface="PingFang SC"/>
              </a:rPr>
              <a:t>{{s3_h1}}</a:t>
            </a:r>
          </a:p>
        </p:txBody>
      </p:sp>
      <p:sp>
        <p:nvSpPr>
          <p:cNvPr id="5" name="s3-body-0"/>
          <p:cNvSpPr txBox="1"/>
          <p:nvPr/>
        </p:nvSpPr>
        <p:spPr>
          <a:xfrm>
            <a:off x="3200400" y="1965960"/>
            <a:ext cx="7955279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2334A"/>
                </a:solidFill>
                <a:latin typeface="PingFang SC"/>
                <a:ea typeface="PingFang SC"/>
              </a:rPr>
              <a:t>{{s3_b1}}</a:t>
            </a:r>
          </a:p>
        </p:txBody>
      </p:sp>
      <p:sp>
        <p:nvSpPr>
          <p:cNvPr id="6" name="s3-heading-1"/>
          <p:cNvSpPr txBox="1"/>
          <p:nvPr/>
        </p:nvSpPr>
        <p:spPr>
          <a:xfrm>
            <a:off x="731520" y="3136391"/>
            <a:ext cx="2240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3855D9"/>
                </a:solidFill>
                <a:latin typeface="PingFang SC"/>
                <a:ea typeface="PingFang SC"/>
              </a:rPr>
              <a:t>{{s3_h2}}</a:t>
            </a:r>
          </a:p>
        </p:txBody>
      </p:sp>
      <p:sp>
        <p:nvSpPr>
          <p:cNvPr id="7" name="s3-body-1"/>
          <p:cNvSpPr txBox="1"/>
          <p:nvPr/>
        </p:nvSpPr>
        <p:spPr>
          <a:xfrm>
            <a:off x="3200400" y="3136391"/>
            <a:ext cx="7955279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2334A"/>
                </a:solidFill>
                <a:latin typeface="PingFang SC"/>
                <a:ea typeface="PingFang SC"/>
              </a:rPr>
              <a:t>{{s3_b2}}</a:t>
            </a:r>
          </a:p>
        </p:txBody>
      </p:sp>
      <p:sp>
        <p:nvSpPr>
          <p:cNvPr id="8" name="s3-heading-2"/>
          <p:cNvSpPr txBox="1"/>
          <p:nvPr/>
        </p:nvSpPr>
        <p:spPr>
          <a:xfrm>
            <a:off x="731520" y="4306824"/>
            <a:ext cx="2240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3855D9"/>
                </a:solidFill>
                <a:latin typeface="PingFang SC"/>
                <a:ea typeface="PingFang SC"/>
              </a:rPr>
              <a:t>{{s3_h3}}</a:t>
            </a:r>
          </a:p>
        </p:txBody>
      </p:sp>
      <p:sp>
        <p:nvSpPr>
          <p:cNvPr id="9" name="s3-body-2"/>
          <p:cNvSpPr txBox="1"/>
          <p:nvPr/>
        </p:nvSpPr>
        <p:spPr>
          <a:xfrm>
            <a:off x="3200400" y="4306824"/>
            <a:ext cx="7955279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2334A"/>
                </a:solidFill>
                <a:latin typeface="PingFang SC"/>
                <a:ea typeface="PingFang SC"/>
              </a:rPr>
              <a:t>{{s3_b3}}</a:t>
            </a:r>
          </a:p>
        </p:txBody>
      </p:sp>
      <p:sp>
        <p:nvSpPr>
          <p:cNvPr id="10" name="s3-source"/>
          <p:cNvSpPr txBox="1"/>
          <p:nvPr/>
        </p:nvSpPr>
        <p:spPr>
          <a:xfrm>
            <a:off x="731520" y="6080760"/>
            <a:ext cx="98755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{{s3_source}}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3" name="s4-title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31B35"/>
                </a:solidFill>
                <a:latin typeface="PingFang SC"/>
                <a:ea typeface="PingFang SC"/>
              </a:rPr>
              <a:t>北极星指标与护栏指标</a:t>
            </a:r>
          </a:p>
        </p:txBody>
      </p:sp>
      <p:sp>
        <p:nvSpPr>
          <p:cNvPr id="4" name="s4-subtitle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52637B"/>
                </a:solidFill>
                <a:latin typeface="PingFang SC"/>
                <a:ea typeface="PingFang SC"/>
              </a:rPr>
              <a:t>{{s4_subtitle}}</a:t>
            </a:r>
          </a:p>
        </p:txBody>
      </p:sp>
      <p:sp>
        <p:nvSpPr>
          <p:cNvPr id="5" name="metric-0-value"/>
          <p:cNvSpPr txBox="1"/>
          <p:nvPr/>
        </p:nvSpPr>
        <p:spPr>
          <a:xfrm>
            <a:off x="731520" y="2423160"/>
            <a:ext cx="3383280" cy="86868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3855D9"/>
                </a:solidFill>
                <a:latin typeface="PingFang SC"/>
                <a:ea typeface="PingFang SC"/>
              </a:rPr>
              <a:t>{{metric_0_value}}</a:t>
            </a:r>
          </a:p>
        </p:txBody>
      </p:sp>
      <p:sp>
        <p:nvSpPr>
          <p:cNvPr id="6" name="metric-0-name"/>
          <p:cNvSpPr txBox="1"/>
          <p:nvPr/>
        </p:nvSpPr>
        <p:spPr>
          <a:xfrm>
            <a:off x="731520" y="3474720"/>
            <a:ext cx="3383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131B35"/>
                </a:solidFill>
                <a:latin typeface="PingFang SC"/>
                <a:ea typeface="PingFang SC"/>
              </a:rPr>
              <a:t>{{metric_0_name}}</a:t>
            </a:r>
          </a:p>
        </p:txBody>
      </p:sp>
      <p:sp>
        <p:nvSpPr>
          <p:cNvPr id="7" name="metric-0-detail"/>
          <p:cNvSpPr txBox="1"/>
          <p:nvPr/>
        </p:nvSpPr>
        <p:spPr>
          <a:xfrm>
            <a:off x="731520" y="4251960"/>
            <a:ext cx="3383280" cy="9601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22334A"/>
                </a:solidFill>
                <a:latin typeface="PingFang SC"/>
                <a:ea typeface="PingFang SC"/>
              </a:rPr>
              <a:t>{{metric_0_detail}}</a:t>
            </a:r>
          </a:p>
        </p:txBody>
      </p:sp>
      <p:sp>
        <p:nvSpPr>
          <p:cNvPr id="8" name="metric-1-value"/>
          <p:cNvSpPr txBox="1"/>
          <p:nvPr/>
        </p:nvSpPr>
        <p:spPr>
          <a:xfrm>
            <a:off x="4526280" y="2423160"/>
            <a:ext cx="3383280" cy="86868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3855D9"/>
                </a:solidFill>
                <a:latin typeface="PingFang SC"/>
                <a:ea typeface="PingFang SC"/>
              </a:rPr>
              <a:t>{{metric_1_value}}</a:t>
            </a:r>
          </a:p>
        </p:txBody>
      </p:sp>
      <p:sp>
        <p:nvSpPr>
          <p:cNvPr id="9" name="metric-1-name"/>
          <p:cNvSpPr txBox="1"/>
          <p:nvPr/>
        </p:nvSpPr>
        <p:spPr>
          <a:xfrm>
            <a:off x="4526280" y="3474720"/>
            <a:ext cx="3383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131B35"/>
                </a:solidFill>
                <a:latin typeface="PingFang SC"/>
                <a:ea typeface="PingFang SC"/>
              </a:rPr>
              <a:t>{{metric_1_name}}</a:t>
            </a:r>
          </a:p>
        </p:txBody>
      </p:sp>
      <p:sp>
        <p:nvSpPr>
          <p:cNvPr id="10" name="metric-1-detail"/>
          <p:cNvSpPr txBox="1"/>
          <p:nvPr/>
        </p:nvSpPr>
        <p:spPr>
          <a:xfrm>
            <a:off x="4526280" y="4251960"/>
            <a:ext cx="3383280" cy="9601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22334A"/>
                </a:solidFill>
                <a:latin typeface="PingFang SC"/>
                <a:ea typeface="PingFang SC"/>
              </a:rPr>
              <a:t>{{metric_1_detail}}</a:t>
            </a:r>
          </a:p>
        </p:txBody>
      </p:sp>
      <p:sp>
        <p:nvSpPr>
          <p:cNvPr id="11" name="metric-2-value"/>
          <p:cNvSpPr txBox="1"/>
          <p:nvPr/>
        </p:nvSpPr>
        <p:spPr>
          <a:xfrm>
            <a:off x="8321040" y="2423160"/>
            <a:ext cx="3383280" cy="86868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3855D9"/>
                </a:solidFill>
                <a:latin typeface="PingFang SC"/>
                <a:ea typeface="PingFang SC"/>
              </a:rPr>
              <a:t>{{metric_2_value}}</a:t>
            </a:r>
          </a:p>
        </p:txBody>
      </p:sp>
      <p:sp>
        <p:nvSpPr>
          <p:cNvPr id="12" name="metric-2-name"/>
          <p:cNvSpPr txBox="1"/>
          <p:nvPr/>
        </p:nvSpPr>
        <p:spPr>
          <a:xfrm>
            <a:off x="8321040" y="3474720"/>
            <a:ext cx="3383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131B35"/>
                </a:solidFill>
                <a:latin typeface="PingFang SC"/>
                <a:ea typeface="PingFang SC"/>
              </a:rPr>
              <a:t>{{metric_2_name}}</a:t>
            </a:r>
          </a:p>
        </p:txBody>
      </p:sp>
      <p:sp>
        <p:nvSpPr>
          <p:cNvPr id="13" name="metric-2-detail"/>
          <p:cNvSpPr txBox="1"/>
          <p:nvPr/>
        </p:nvSpPr>
        <p:spPr>
          <a:xfrm>
            <a:off x="8321040" y="4251960"/>
            <a:ext cx="3383280" cy="9601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22334A"/>
                </a:solidFill>
                <a:latin typeface="PingFang SC"/>
                <a:ea typeface="PingFang SC"/>
              </a:rPr>
              <a:t>{{metric_2_detail}}</a:t>
            </a:r>
          </a:p>
        </p:txBody>
      </p:sp>
      <p:sp>
        <p:nvSpPr>
          <p:cNvPr id="14" name="s4-source"/>
          <p:cNvSpPr txBox="1"/>
          <p:nvPr/>
        </p:nvSpPr>
        <p:spPr>
          <a:xfrm>
            <a:off x="731520" y="6080760"/>
            <a:ext cx="98755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{{s4_source}}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05</a:t>
            </a:r>
          </a:p>
        </p:txBody>
      </p:sp>
      <p:sp>
        <p:nvSpPr>
          <p:cNvPr id="3" name="s5-title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31B35"/>
                </a:solidFill>
                <a:latin typeface="PingFang SC"/>
                <a:ea typeface="PingFang SC"/>
              </a:rPr>
              <a:t>关键转化环节</a:t>
            </a:r>
          </a:p>
        </p:txBody>
      </p:sp>
      <p:sp>
        <p:nvSpPr>
          <p:cNvPr id="4" name="s5-subtitle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52637B"/>
                </a:solidFill>
                <a:latin typeface="PingFang SC"/>
                <a:ea typeface="PingFang SC"/>
              </a:rPr>
              <a:t>{{s5_subtitle}}</a:t>
            </a:r>
          </a:p>
        </p:txBody>
      </p:sp>
      <p:graphicFrame>
        <p:nvGraphicFramePr>
          <p:cNvPr id="5" name="editable-metric-chart"/>
          <p:cNvGraphicFramePr>
            <a:graphicFrameLocks noGrp="1"/>
          </p:cNvGraphicFramePr>
          <p:nvPr/>
        </p:nvGraphicFramePr>
        <p:xfrm>
          <a:off x="777240" y="2103120"/>
          <a:ext cx="1060704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5-source"/>
          <p:cNvSpPr txBox="1"/>
          <p:nvPr/>
        </p:nvSpPr>
        <p:spPr>
          <a:xfrm>
            <a:off x="731520" y="6080760"/>
            <a:ext cx="98755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{{s5_source}}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06</a:t>
            </a:r>
          </a:p>
        </p:txBody>
      </p:sp>
      <p:sp>
        <p:nvSpPr>
          <p:cNvPr id="3" name="s6-title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31B35"/>
                </a:solidFill>
                <a:latin typeface="PingFang SC"/>
                <a:ea typeface="PingFang SC"/>
              </a:rPr>
              <a:t>用户分层与留存</a:t>
            </a:r>
          </a:p>
        </p:txBody>
      </p:sp>
      <p:graphicFrame>
        <p:nvGraphicFramePr>
          <p:cNvPr id="4" name="cohort-table"/>
          <p:cNvGraphicFramePr>
            <a:graphicFrameLocks noGrp="1"/>
          </p:cNvGraphicFramePr>
          <p:nvPr/>
        </p:nvGraphicFramePr>
        <p:xfrm>
          <a:off x="731520" y="1920240"/>
          <a:ext cx="106984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8343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用户分层</a:t>
                      </a:r>
                    </a:p>
                  </a:txBody>
                  <a:tcPr marL="137160" marT="100584" anchor="ctr">
                    <a:solidFill>
                      <a:srgbClr val="3855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样本量</a:t>
                      </a:r>
                    </a:p>
                  </a:txBody>
                  <a:tcPr marL="137160" marT="100584" anchor="ctr">
                    <a:solidFill>
                      <a:srgbClr val="3855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次月留存</a:t>
                      </a:r>
                    </a:p>
                  </a:txBody>
                  <a:tcPr marL="137160" marT="100584" anchor="ctr">
                    <a:solidFill>
                      <a:srgbClr val="3855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主要问题</a:t>
                      </a:r>
                    </a:p>
                  </a:txBody>
                  <a:tcPr marL="137160" marT="100584" anchor="ctr">
                    <a:solidFill>
                      <a:srgbClr val="3855D9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{{s6_r0_c0}}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{{s6_r0_c1}}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{{s6_r0_c2}}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{{s6_r0_c3}}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{{s6_r1_c0}}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{{s6_r1_c1}}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{{s6_r1_c2}}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{{s6_r1_c3}}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{{s6_r2_c0}}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{{s6_r2_c1}}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{{s6_r2_c2}}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{{s6_r2_c3}}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s6-source"/>
          <p:cNvSpPr txBox="1"/>
          <p:nvPr/>
        </p:nvSpPr>
        <p:spPr>
          <a:xfrm>
            <a:off x="731520" y="6080760"/>
            <a:ext cx="98755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{{s6_source}}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07</a:t>
            </a:r>
          </a:p>
        </p:txBody>
      </p:sp>
      <p:sp>
        <p:nvSpPr>
          <p:cNvPr id="3" name="s7-title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31B35"/>
                </a:solidFill>
                <a:latin typeface="PingFang SC"/>
                <a:ea typeface="PingFang SC"/>
              </a:rPr>
              <a:t>实验记录与结论</a:t>
            </a:r>
          </a:p>
        </p:txBody>
      </p:sp>
      <p:graphicFrame>
        <p:nvGraphicFramePr>
          <p:cNvPr id="4" name="experiment-table"/>
          <p:cNvGraphicFramePr>
            <a:graphicFrameLocks noGrp="1"/>
          </p:cNvGraphicFramePr>
          <p:nvPr/>
        </p:nvGraphicFramePr>
        <p:xfrm>
          <a:off x="731520" y="1920240"/>
          <a:ext cx="106984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8343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实验</a:t>
                      </a:r>
                    </a:p>
                  </a:txBody>
                  <a:tcPr marL="137160" marT="100584" anchor="ctr">
                    <a:solidFill>
                      <a:srgbClr val="3855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样本与周期</a:t>
                      </a:r>
                    </a:p>
                  </a:txBody>
                  <a:tcPr marL="137160" marT="100584" anchor="ctr">
                    <a:solidFill>
                      <a:srgbClr val="3855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结果</a:t>
                      </a:r>
                    </a:p>
                  </a:txBody>
                  <a:tcPr marL="137160" marT="100584" anchor="ctr">
                    <a:solidFill>
                      <a:srgbClr val="3855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后续动作</a:t>
                      </a:r>
                    </a:p>
                  </a:txBody>
                  <a:tcPr marL="137160" marT="100584" anchor="ctr">
                    <a:solidFill>
                      <a:srgbClr val="3855D9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{{s7_r0_c0}}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{{s7_r0_c1}}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{{s7_r0_c2}}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{{s7_r0_c3}}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{{s7_r1_c0}}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{{s7_r1_c1}}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{{s7_r1_c2}}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{{s7_r1_c3}}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{{s7_r2_c0}}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{{s7_r2_c1}}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{{s7_r2_c2}}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{{s7_r2_c3}}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s7-source"/>
          <p:cNvSpPr txBox="1"/>
          <p:nvPr/>
        </p:nvSpPr>
        <p:spPr>
          <a:xfrm>
            <a:off x="731520" y="6080760"/>
            <a:ext cx="98755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{{s7_source}}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08</a:t>
            </a:r>
          </a:p>
        </p:txBody>
      </p:sp>
      <p:sp>
        <p:nvSpPr>
          <p:cNvPr id="3" name="s8-title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31B35"/>
                </a:solidFill>
                <a:latin typeface="PingFang SC"/>
                <a:ea typeface="PingFang SC"/>
              </a:rPr>
              <a:t>产品路线图</a:t>
            </a:r>
          </a:p>
        </p:txBody>
      </p:sp>
      <p:graphicFrame>
        <p:nvGraphicFramePr>
          <p:cNvPr id="4" name="roadmap-table"/>
          <p:cNvGraphicFramePr>
            <a:graphicFrameLocks noGrp="1"/>
          </p:cNvGraphicFramePr>
          <p:nvPr/>
        </p:nvGraphicFramePr>
        <p:xfrm>
          <a:off x="731520" y="1920240"/>
          <a:ext cx="106984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8343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里程碑</a:t>
                      </a:r>
                    </a:p>
                  </a:txBody>
                  <a:tcPr marL="137160" marT="100584" anchor="ctr">
                    <a:solidFill>
                      <a:srgbClr val="3855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交付内容</a:t>
                      </a:r>
                    </a:p>
                  </a:txBody>
                  <a:tcPr marL="137160" marT="100584" anchor="ctr">
                    <a:solidFill>
                      <a:srgbClr val="3855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负责人</a:t>
                      </a:r>
                    </a:p>
                  </a:txBody>
                  <a:tcPr marL="137160" marT="100584" anchor="ctr">
                    <a:solidFill>
                      <a:srgbClr val="3855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验收标准</a:t>
                      </a:r>
                    </a:p>
                  </a:txBody>
                  <a:tcPr marL="137160" marT="100584" anchor="ctr">
                    <a:solidFill>
                      <a:srgbClr val="3855D9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{{s8_r0_c0}}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{{s8_r0_c1}}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{{s8_r0_c2}}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{{s8_r0_c3}}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{{s8_r1_c0}}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{{s8_r1_c1}}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{{s8_r1_c2}}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{{s8_r1_c3}}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{{s8_r2_c0}}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{{s8_r2_c1}}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{{s8_r2_c2}}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{{s8_r2_c3}}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s8-source"/>
          <p:cNvSpPr txBox="1"/>
          <p:nvPr/>
        </p:nvSpPr>
        <p:spPr>
          <a:xfrm>
            <a:off x="731520" y="6080760"/>
            <a:ext cx="98755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{{s8_source}}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09</a:t>
            </a:r>
          </a:p>
        </p:txBody>
      </p:sp>
      <p:sp>
        <p:nvSpPr>
          <p:cNvPr id="3" name="s9-title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31B35"/>
                </a:solidFill>
                <a:latin typeface="PingFang SC"/>
                <a:ea typeface="PingFang SC"/>
              </a:rPr>
              <a:t>产品与技术依赖</a:t>
            </a:r>
          </a:p>
        </p:txBody>
      </p:sp>
      <p:graphicFrame>
        <p:nvGraphicFramePr>
          <p:cNvPr id="4" name="dependency-table"/>
          <p:cNvGraphicFramePr>
            <a:graphicFrameLocks noGrp="1"/>
          </p:cNvGraphicFramePr>
          <p:nvPr/>
        </p:nvGraphicFramePr>
        <p:xfrm>
          <a:off x="731520" y="1920240"/>
          <a:ext cx="106984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8343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依赖事项</a:t>
                      </a:r>
                    </a:p>
                  </a:txBody>
                  <a:tcPr marL="137160" marT="100584" anchor="ctr">
                    <a:solidFill>
                      <a:srgbClr val="3855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负责团队</a:t>
                      </a:r>
                    </a:p>
                  </a:txBody>
                  <a:tcPr marL="137160" marT="100584" anchor="ctr">
                    <a:solidFill>
                      <a:srgbClr val="3855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交付节点</a:t>
                      </a:r>
                    </a:p>
                  </a:txBody>
                  <a:tcPr marL="137160" marT="100584" anchor="ctr">
                    <a:solidFill>
                      <a:srgbClr val="3855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阻塞影响</a:t>
                      </a:r>
                    </a:p>
                  </a:txBody>
                  <a:tcPr marL="137160" marT="100584" anchor="ctr">
                    <a:solidFill>
                      <a:srgbClr val="3855D9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{{s9_r0_c0}}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{{s9_r0_c1}}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{{s9_r0_c2}}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{{s9_r0_c3}}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{{s9_r1_c0}}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{{s9_r1_c1}}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{{s9_r1_c2}}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{{s9_r1_c3}}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{{s9_r2_c0}}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{{s9_r2_c1}}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{{s9_r2_c2}}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{{s9_r2_c3}}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s9-source"/>
          <p:cNvSpPr txBox="1"/>
          <p:nvPr/>
        </p:nvSpPr>
        <p:spPr>
          <a:xfrm>
            <a:off x="731520" y="6080760"/>
            <a:ext cx="98755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{{s9_source}}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3" name="s10-title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31B35"/>
                </a:solidFill>
                <a:latin typeface="PingFang SC"/>
                <a:ea typeface="PingFang SC"/>
              </a:rPr>
              <a:t>风险与质量护栏</a:t>
            </a:r>
          </a:p>
        </p:txBody>
      </p:sp>
      <p:graphicFrame>
        <p:nvGraphicFramePr>
          <p:cNvPr id="4" name="guardrail-table"/>
          <p:cNvGraphicFramePr>
            <a:graphicFrameLocks noGrp="1"/>
          </p:cNvGraphicFramePr>
          <p:nvPr/>
        </p:nvGraphicFramePr>
        <p:xfrm>
          <a:off x="731520" y="1920240"/>
          <a:ext cx="106984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8343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风险</a:t>
                      </a:r>
                    </a:p>
                  </a:txBody>
                  <a:tcPr marL="137160" marT="100584" anchor="ctr">
                    <a:solidFill>
                      <a:srgbClr val="3855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监测指标</a:t>
                      </a:r>
                    </a:p>
                  </a:txBody>
                  <a:tcPr marL="137160" marT="100584" anchor="ctr">
                    <a:solidFill>
                      <a:srgbClr val="3855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触发条件</a:t>
                      </a:r>
                    </a:p>
                  </a:txBody>
                  <a:tcPr marL="137160" marT="100584" anchor="ctr">
                    <a:solidFill>
                      <a:srgbClr val="3855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处理责任</a:t>
                      </a:r>
                    </a:p>
                  </a:txBody>
                  <a:tcPr marL="137160" marT="100584" anchor="ctr">
                    <a:solidFill>
                      <a:srgbClr val="3855D9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{{s10_r0_c0}}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{{s10_r0_c1}}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{{s10_r0_c2}}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{{s10_r0_c3}}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{{s10_r1_c0}}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{{s10_r1_c1}}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{{s10_r1_c2}}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{{s10_r1_c3}}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{{s10_r2_c0}}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{{s10_r2_c1}}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{{s10_r2_c2}}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{{s10_r2_c3}}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s10-source"/>
          <p:cNvSpPr txBox="1"/>
          <p:nvPr/>
        </p:nvSpPr>
        <p:spPr>
          <a:xfrm>
            <a:off x="731520" y="6080760"/>
            <a:ext cx="98755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{{s10_source}}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11</a:t>
            </a:r>
          </a:p>
        </p:txBody>
      </p:sp>
      <p:sp>
        <p:nvSpPr>
          <p:cNvPr id="3" name="s11-title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31B35"/>
                </a:solidFill>
                <a:latin typeface="PingFang SC"/>
                <a:ea typeface="PingFang SC"/>
              </a:rPr>
              <a:t>资源与决策请求</a:t>
            </a:r>
          </a:p>
        </p:txBody>
      </p:sp>
      <p:sp>
        <p:nvSpPr>
          <p:cNvPr id="4" name="s11-heading-0"/>
          <p:cNvSpPr txBox="1"/>
          <p:nvPr/>
        </p:nvSpPr>
        <p:spPr>
          <a:xfrm>
            <a:off x="731520" y="1965960"/>
            <a:ext cx="2240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3855D9"/>
                </a:solidFill>
                <a:latin typeface="PingFang SC"/>
                <a:ea typeface="PingFang SC"/>
              </a:rPr>
              <a:t>{{decision_1_heading}}</a:t>
            </a:r>
          </a:p>
        </p:txBody>
      </p:sp>
      <p:sp>
        <p:nvSpPr>
          <p:cNvPr id="5" name="s11-body-0"/>
          <p:cNvSpPr txBox="1"/>
          <p:nvPr/>
        </p:nvSpPr>
        <p:spPr>
          <a:xfrm>
            <a:off x="3200400" y="1965960"/>
            <a:ext cx="7955279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2334A"/>
                </a:solidFill>
                <a:latin typeface="PingFang SC"/>
                <a:ea typeface="PingFang SC"/>
              </a:rPr>
              <a:t>{{decision_1_body}}</a:t>
            </a:r>
          </a:p>
        </p:txBody>
      </p:sp>
      <p:sp>
        <p:nvSpPr>
          <p:cNvPr id="6" name="s11-heading-1"/>
          <p:cNvSpPr txBox="1"/>
          <p:nvPr/>
        </p:nvSpPr>
        <p:spPr>
          <a:xfrm>
            <a:off x="731520" y="3136391"/>
            <a:ext cx="2240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3855D9"/>
                </a:solidFill>
                <a:latin typeface="PingFang SC"/>
                <a:ea typeface="PingFang SC"/>
              </a:rPr>
              <a:t>{{decision_2_heading}}</a:t>
            </a:r>
          </a:p>
        </p:txBody>
      </p:sp>
      <p:sp>
        <p:nvSpPr>
          <p:cNvPr id="7" name="s11-body-1"/>
          <p:cNvSpPr txBox="1"/>
          <p:nvPr/>
        </p:nvSpPr>
        <p:spPr>
          <a:xfrm>
            <a:off x="3200400" y="3136391"/>
            <a:ext cx="7955279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2334A"/>
                </a:solidFill>
                <a:latin typeface="PingFang SC"/>
                <a:ea typeface="PingFang SC"/>
              </a:rPr>
              <a:t>{{decision_2_body}}</a:t>
            </a:r>
          </a:p>
        </p:txBody>
      </p:sp>
      <p:sp>
        <p:nvSpPr>
          <p:cNvPr id="8" name="s11-heading-2"/>
          <p:cNvSpPr txBox="1"/>
          <p:nvPr/>
        </p:nvSpPr>
        <p:spPr>
          <a:xfrm>
            <a:off x="731520" y="4306824"/>
            <a:ext cx="2240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3855D9"/>
                </a:solidFill>
                <a:latin typeface="PingFang SC"/>
                <a:ea typeface="PingFang SC"/>
              </a:rPr>
              <a:t>{{decision_3_heading}}</a:t>
            </a:r>
          </a:p>
        </p:txBody>
      </p:sp>
      <p:sp>
        <p:nvSpPr>
          <p:cNvPr id="9" name="s11-body-2"/>
          <p:cNvSpPr txBox="1"/>
          <p:nvPr/>
        </p:nvSpPr>
        <p:spPr>
          <a:xfrm>
            <a:off x="3200400" y="4306824"/>
            <a:ext cx="7955279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2334A"/>
                </a:solidFill>
                <a:latin typeface="PingFang SC"/>
                <a:ea typeface="PingFang SC"/>
              </a:rPr>
              <a:t>{{decision_3_body}}</a:t>
            </a:r>
          </a:p>
        </p:txBody>
      </p:sp>
      <p:sp>
        <p:nvSpPr>
          <p:cNvPr id="10" name="s11-source"/>
          <p:cNvSpPr txBox="1"/>
          <p:nvPr/>
        </p:nvSpPr>
        <p:spPr>
          <a:xfrm>
            <a:off x="731520" y="6080760"/>
            <a:ext cx="98755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{{s11_source}}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A9B8CC"/>
                </a:solidFill>
                <a:latin typeface="PingFang SC"/>
                <a:ea typeface="PingFang SC"/>
              </a:rPr>
              <a:t>12</a:t>
            </a:r>
          </a:p>
        </p:txBody>
      </p:sp>
      <p:sp>
        <p:nvSpPr>
          <p:cNvPr id="3" name="s12-title"/>
          <p:cNvSpPr txBox="1"/>
          <p:nvPr/>
        </p:nvSpPr>
        <p:spPr>
          <a:xfrm>
            <a:off x="731520" y="1554480"/>
            <a:ext cx="10698480" cy="1463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4200" b="1">
                <a:solidFill>
                  <a:srgbClr val="FFFFFF"/>
                </a:solidFill>
                <a:latin typeface="PingFang SC"/>
                <a:ea typeface="PingFang SC"/>
              </a:rPr>
              <a:t>{{closing_title}}</a:t>
            </a:r>
          </a:p>
        </p:txBody>
      </p:sp>
      <p:sp>
        <p:nvSpPr>
          <p:cNvPr id="4" name="s12-subtitle"/>
          <p:cNvSpPr txBox="1"/>
          <p:nvPr/>
        </p:nvSpPr>
        <p:spPr>
          <a:xfrm>
            <a:off x="731520" y="3246120"/>
            <a:ext cx="1051560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CED8E9"/>
                </a:solidFill>
                <a:latin typeface="PingFang SC"/>
                <a:ea typeface="PingFang SC"/>
              </a:rPr>
              <a:t>{{closing_subtitle}}</a:t>
            </a:r>
          </a:p>
        </p:txBody>
      </p:sp>
      <p:sp>
        <p:nvSpPr>
          <p:cNvPr id="5" name="closing-request"/>
          <p:cNvSpPr txBox="1"/>
          <p:nvPr/>
        </p:nvSpPr>
        <p:spPr>
          <a:xfrm>
            <a:off x="731520" y="4663440"/>
            <a:ext cx="10332720" cy="9144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CED8E9"/>
                </a:solidFill>
                <a:latin typeface="PingFang SC"/>
                <a:ea typeface="PingFang SC"/>
              </a:rPr>
              <a:t>{{closing_request}}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互联网产品与增长汇报原创模板</dc:title>
  <dc:subject>Original editable slide layouts; example figures are demonstration data</dc:subject>
  <dc:creator>TianCode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